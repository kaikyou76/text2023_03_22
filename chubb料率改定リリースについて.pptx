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6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9" y="4559654"/>
            <a:ext cx="1041398" cy="94199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059" y="4495790"/>
            <a:ext cx="1041398" cy="941992"/>
          </a:xfrm>
          <a:prstGeom prst="rect">
            <a:avLst/>
          </a:prstGeom>
        </p:spPr>
      </p:pic>
      <p:cxnSp>
        <p:nvCxnSpPr>
          <p:cNvPr id="89" name="直接连接符 88"/>
          <p:cNvCxnSpPr/>
          <p:nvPr/>
        </p:nvCxnSpPr>
        <p:spPr>
          <a:xfrm>
            <a:off x="782320" y="5254170"/>
            <a:ext cx="7325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252221" y="418553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AWS </a:t>
            </a:r>
            <a:r>
              <a:rPr dirty="0" err="1"/>
              <a:t>本番環境（表側</a:t>
            </a:r>
            <a:r>
              <a:rPr dirty="0"/>
              <a:t>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886956" y="405854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AWS 開発環境1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2861" y="1616886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AWS 本番環境（裏側）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886956" y="1578805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AWS 開発環境2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2194" y="2723937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AWS 開発環境3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42000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 err="1"/>
              <a:t>ローカル環境（小笠原</a:t>
            </a:r>
            <a:r>
              <a:rPr dirty="0"/>
              <a:t>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8104" y="3555968"/>
            <a:ext cx="2743200" cy="9144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 err="1"/>
              <a:t>GitLab</a:t>
            </a:r>
            <a:r>
              <a:rPr dirty="0"/>
              <a:t> </a:t>
            </a:r>
            <a:endParaRPr lang="en-US" dirty="0" smtClean="0"/>
          </a:p>
          <a:p>
            <a:pPr>
              <a:defRPr sz="1800" b="1"/>
            </a:pPr>
            <a:r>
              <a:rPr lang="en-US" dirty="0" err="1" smtClean="0"/>
              <a:t>master</a:t>
            </a:r>
            <a:r>
              <a:rPr dirty="0" err="1" smtClean="0"/>
              <a:t>ブランチ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0" y="5842000"/>
            <a:ext cx="2743200" cy="9144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lang="ja-JP" altLang="en-US" dirty="0"/>
              <a:t>ローカル環境</a:t>
            </a:r>
            <a:r>
              <a:rPr lang="ja-JP" altLang="en-US" dirty="0" smtClean="0"/>
              <a:t>（</a:t>
            </a:r>
            <a:r>
              <a:rPr lang="ja-JP" altLang="en-US" dirty="0"/>
              <a:t>姚</a:t>
            </a:r>
            <a:r>
              <a:rPr lang="ja-JP" altLang="en-US" dirty="0" smtClean="0"/>
              <a:t>）</a:t>
            </a:r>
            <a:endParaRPr lang="ja-JP" altLang="en-US" dirty="0"/>
          </a:p>
          <a:p>
            <a:pPr>
              <a:defRPr sz="1800" b="1"/>
            </a:pPr>
            <a:endParaRPr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18" y="1143002"/>
            <a:ext cx="985524" cy="98552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18" y="-127002"/>
            <a:ext cx="985524" cy="98552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194" y="716262"/>
            <a:ext cx="985524" cy="98552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956" y="1904982"/>
            <a:ext cx="985524" cy="98552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76" y="3047984"/>
            <a:ext cx="985524" cy="98552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568" y="3047984"/>
            <a:ext cx="985524" cy="985524"/>
          </a:xfrm>
          <a:prstGeom prst="rect">
            <a:avLst/>
          </a:prstGeom>
        </p:spPr>
      </p:pic>
      <p:sp>
        <p:nvSpPr>
          <p:cNvPr id="18" name="Rectangle 7"/>
          <p:cNvSpPr/>
          <p:nvPr/>
        </p:nvSpPr>
        <p:spPr>
          <a:xfrm>
            <a:off x="4683756" y="3972556"/>
            <a:ext cx="2743200" cy="9144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ソースコード</a:t>
            </a:r>
            <a:endParaRPr dirty="0"/>
          </a:p>
          <a:p>
            <a:r>
              <a:rPr dirty="0" err="1"/>
              <a:t>ブランチ群</a:t>
            </a:r>
            <a:endParaRPr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308" y="4326268"/>
            <a:ext cx="985524" cy="98552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97" y="6309360"/>
            <a:ext cx="471205" cy="459362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538478" y="5364480"/>
            <a:ext cx="0" cy="477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8404859" y="5288262"/>
            <a:ext cx="0" cy="553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3" idx="3"/>
          </p:cNvCxnSpPr>
          <p:nvPr/>
        </p:nvCxnSpPr>
        <p:spPr>
          <a:xfrm>
            <a:off x="7630156" y="863054"/>
            <a:ext cx="741676" cy="356670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5" idx="3"/>
          </p:cNvCxnSpPr>
          <p:nvPr/>
        </p:nvCxnSpPr>
        <p:spPr>
          <a:xfrm>
            <a:off x="7630156" y="2036005"/>
            <a:ext cx="7416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6" idx="3"/>
          </p:cNvCxnSpPr>
          <p:nvPr/>
        </p:nvCxnSpPr>
        <p:spPr>
          <a:xfrm>
            <a:off x="7645394" y="3181137"/>
            <a:ext cx="726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肘形连接符 55"/>
          <p:cNvCxnSpPr/>
          <p:nvPr/>
        </p:nvCxnSpPr>
        <p:spPr>
          <a:xfrm rot="5400000">
            <a:off x="-881650" y="2295882"/>
            <a:ext cx="3554001" cy="713743"/>
          </a:xfrm>
          <a:prstGeom prst="bentConnector3">
            <a:avLst>
              <a:gd name="adj1" fmla="val 83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582927" y="2104566"/>
            <a:ext cx="7099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 flipV="1">
            <a:off x="6969756" y="4886956"/>
            <a:ext cx="579124" cy="955044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endCxn id="6" idx="2"/>
          </p:cNvCxnSpPr>
          <p:nvPr/>
        </p:nvCxnSpPr>
        <p:spPr>
          <a:xfrm flipV="1">
            <a:off x="6273794" y="3638337"/>
            <a:ext cx="0" cy="334219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6253474" y="2378497"/>
            <a:ext cx="0" cy="334219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V="1">
            <a:off x="6263634" y="1301537"/>
            <a:ext cx="0" cy="334219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18" idx="1"/>
            <a:endCxn id="8" idx="3"/>
          </p:cNvCxnSpPr>
          <p:nvPr/>
        </p:nvCxnSpPr>
        <p:spPr>
          <a:xfrm flipH="1" flipV="1">
            <a:off x="4051304" y="4013168"/>
            <a:ext cx="632452" cy="416588"/>
          </a:xfrm>
          <a:prstGeom prst="straightConnector1">
            <a:avLst/>
          </a:prstGeom>
          <a:ln w="69850" cmpd="sng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V="1">
            <a:off x="2984496" y="2531286"/>
            <a:ext cx="0" cy="1009461"/>
          </a:xfrm>
          <a:prstGeom prst="straightConnector1">
            <a:avLst/>
          </a:prstGeom>
          <a:ln w="69850" cmpd="sng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V="1">
            <a:off x="2346960" y="4886956"/>
            <a:ext cx="2539996" cy="955044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V="1">
            <a:off x="2943856" y="1301537"/>
            <a:ext cx="0" cy="277269"/>
          </a:xfrm>
          <a:prstGeom prst="straightConnector1">
            <a:avLst/>
          </a:prstGeom>
          <a:ln w="69850" cmpd="sng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图片 96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435" y="5332852"/>
            <a:ext cx="375920" cy="312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059" y="4495790"/>
            <a:ext cx="1041398" cy="941992"/>
          </a:xfrm>
          <a:prstGeom prst="rect">
            <a:avLst/>
          </a:prstGeom>
        </p:spPr>
      </p:pic>
      <p:cxnSp>
        <p:nvCxnSpPr>
          <p:cNvPr id="89" name="直接连接符 88"/>
          <p:cNvCxnSpPr/>
          <p:nvPr/>
        </p:nvCxnSpPr>
        <p:spPr>
          <a:xfrm>
            <a:off x="538476" y="5254170"/>
            <a:ext cx="75692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252221" y="418553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AWS </a:t>
            </a:r>
            <a:r>
              <a:rPr dirty="0" err="1"/>
              <a:t>本番環境（表側</a:t>
            </a:r>
            <a:r>
              <a:rPr dirty="0"/>
              <a:t>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886956" y="405854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AWS 開発環境1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2861" y="1616886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AWS 本番環境（裏側）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886956" y="1578805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AWS 開発環境2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2194" y="2723937"/>
            <a:ext cx="27432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AWS 開発環境3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8104" y="3555968"/>
            <a:ext cx="2743200" cy="9144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 err="1"/>
              <a:t>GitLab</a:t>
            </a:r>
            <a:r>
              <a:rPr dirty="0"/>
              <a:t> </a:t>
            </a:r>
            <a:endParaRPr lang="en-US" dirty="0" smtClean="0"/>
          </a:p>
          <a:p>
            <a:pPr>
              <a:defRPr sz="1800" b="1"/>
            </a:pPr>
            <a:r>
              <a:rPr lang="en-US" dirty="0" err="1" smtClean="0"/>
              <a:t>master</a:t>
            </a:r>
            <a:r>
              <a:rPr dirty="0" err="1" smtClean="0"/>
              <a:t>ブランチ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0" y="5842000"/>
            <a:ext cx="2743200" cy="9144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lang="ja-JP" altLang="en-US" dirty="0"/>
              <a:t>ローカル環境</a:t>
            </a:r>
            <a:r>
              <a:rPr lang="ja-JP" altLang="en-US" dirty="0" smtClean="0"/>
              <a:t>（</a:t>
            </a:r>
            <a:r>
              <a:rPr lang="ja-JP" altLang="en-US" dirty="0"/>
              <a:t>姚</a:t>
            </a:r>
            <a:r>
              <a:rPr lang="ja-JP" altLang="en-US" dirty="0" smtClean="0"/>
              <a:t>）</a:t>
            </a:r>
            <a:endParaRPr lang="ja-JP" altLang="en-US" dirty="0"/>
          </a:p>
          <a:p>
            <a:pPr>
              <a:defRPr sz="1800" b="1"/>
            </a:pPr>
            <a:endParaRPr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18" y="1143002"/>
            <a:ext cx="985524" cy="98552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18" y="-127002"/>
            <a:ext cx="985524" cy="98552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194" y="716262"/>
            <a:ext cx="985524" cy="98552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956" y="1904982"/>
            <a:ext cx="985524" cy="98552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76" y="3047984"/>
            <a:ext cx="985524" cy="98552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568" y="3047984"/>
            <a:ext cx="985524" cy="985524"/>
          </a:xfrm>
          <a:prstGeom prst="rect">
            <a:avLst/>
          </a:prstGeom>
        </p:spPr>
      </p:pic>
      <p:sp>
        <p:nvSpPr>
          <p:cNvPr id="18" name="Rectangle 7"/>
          <p:cNvSpPr/>
          <p:nvPr/>
        </p:nvSpPr>
        <p:spPr>
          <a:xfrm>
            <a:off x="4683756" y="3972556"/>
            <a:ext cx="2743200" cy="9144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ソースコード</a:t>
            </a:r>
            <a:endParaRPr dirty="0"/>
          </a:p>
          <a:p>
            <a:r>
              <a:rPr dirty="0" err="1"/>
              <a:t>ブランチ群</a:t>
            </a:r>
            <a:endParaRPr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308" y="4326268"/>
            <a:ext cx="985524" cy="98552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97" y="6309360"/>
            <a:ext cx="471205" cy="459362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538476" y="4429754"/>
            <a:ext cx="3" cy="824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8404859" y="5288262"/>
            <a:ext cx="0" cy="553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3" idx="3"/>
          </p:cNvCxnSpPr>
          <p:nvPr/>
        </p:nvCxnSpPr>
        <p:spPr>
          <a:xfrm>
            <a:off x="7630156" y="863054"/>
            <a:ext cx="741676" cy="356670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5" idx="3"/>
          </p:cNvCxnSpPr>
          <p:nvPr/>
        </p:nvCxnSpPr>
        <p:spPr>
          <a:xfrm>
            <a:off x="7630156" y="2036005"/>
            <a:ext cx="7416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6" idx="3"/>
          </p:cNvCxnSpPr>
          <p:nvPr/>
        </p:nvCxnSpPr>
        <p:spPr>
          <a:xfrm>
            <a:off x="7645394" y="3181137"/>
            <a:ext cx="726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肘形连接符 55"/>
          <p:cNvCxnSpPr/>
          <p:nvPr/>
        </p:nvCxnSpPr>
        <p:spPr>
          <a:xfrm rot="5400000">
            <a:off x="-881650" y="2295882"/>
            <a:ext cx="3554001" cy="713743"/>
          </a:xfrm>
          <a:prstGeom prst="bentConnector3">
            <a:avLst>
              <a:gd name="adj1" fmla="val 83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582927" y="2104566"/>
            <a:ext cx="7099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 flipV="1">
            <a:off x="6969756" y="4886956"/>
            <a:ext cx="579124" cy="955044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endCxn id="6" idx="2"/>
          </p:cNvCxnSpPr>
          <p:nvPr/>
        </p:nvCxnSpPr>
        <p:spPr>
          <a:xfrm flipV="1">
            <a:off x="6273794" y="3638337"/>
            <a:ext cx="0" cy="33421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6253474" y="2378497"/>
            <a:ext cx="0" cy="33421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V="1">
            <a:off x="6263634" y="1332953"/>
            <a:ext cx="0" cy="33421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18" idx="1"/>
            <a:endCxn id="8" idx="3"/>
          </p:cNvCxnSpPr>
          <p:nvPr/>
        </p:nvCxnSpPr>
        <p:spPr>
          <a:xfrm flipH="1" flipV="1">
            <a:off x="4051304" y="4013168"/>
            <a:ext cx="632452" cy="416588"/>
          </a:xfrm>
          <a:prstGeom prst="straightConnector1">
            <a:avLst/>
          </a:prstGeom>
          <a:ln w="69850" cmpd="sng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V="1">
            <a:off x="2984496" y="2531286"/>
            <a:ext cx="0" cy="1009461"/>
          </a:xfrm>
          <a:prstGeom prst="straightConnector1">
            <a:avLst/>
          </a:prstGeom>
          <a:ln w="69850" cmpd="sng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V="1">
            <a:off x="2943856" y="1301537"/>
            <a:ext cx="0" cy="277269"/>
          </a:xfrm>
          <a:prstGeom prst="straightConnector1">
            <a:avLst/>
          </a:prstGeom>
          <a:ln w="69850" cmpd="sng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图片 22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570" y="4254944"/>
            <a:ext cx="375920" cy="312484"/>
          </a:xfrm>
          <a:prstGeom prst="rect">
            <a:avLst/>
          </a:prstGeom>
        </p:spPr>
      </p:pic>
      <p:pic>
        <p:nvPicPr>
          <p:cNvPr id="41" name="图片 40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905" y="2948786"/>
            <a:ext cx="375920" cy="312484"/>
          </a:xfrm>
          <a:prstGeom prst="rect">
            <a:avLst/>
          </a:prstGeom>
        </p:spPr>
      </p:pic>
      <p:pic>
        <p:nvPicPr>
          <p:cNvPr id="43" name="图片 42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597" y="1343602"/>
            <a:ext cx="375920" cy="312484"/>
          </a:xfrm>
          <a:prstGeom prst="rect">
            <a:avLst/>
          </a:prstGeom>
        </p:spPr>
      </p:pic>
      <p:pic>
        <p:nvPicPr>
          <p:cNvPr id="44" name="图片 43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435" y="5332852"/>
            <a:ext cx="375920" cy="312484"/>
          </a:xfrm>
          <a:prstGeom prst="rect">
            <a:avLst/>
          </a:prstGeom>
        </p:spPr>
      </p:pic>
      <p:pic>
        <p:nvPicPr>
          <p:cNvPr id="45" name="图片 44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17" y="3674771"/>
            <a:ext cx="375920" cy="312484"/>
          </a:xfrm>
          <a:prstGeom prst="rect">
            <a:avLst/>
          </a:prstGeom>
        </p:spPr>
      </p:pic>
      <p:pic>
        <p:nvPicPr>
          <p:cNvPr id="46" name="图片 45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70" y="2433357"/>
            <a:ext cx="375920" cy="312484"/>
          </a:xfrm>
          <a:prstGeom prst="rect">
            <a:avLst/>
          </a:prstGeom>
        </p:spPr>
      </p:pic>
      <p:pic>
        <p:nvPicPr>
          <p:cNvPr id="47" name="图片 46" descr="Attention Warning Exclamation Mark · Free vector graphic on Pixaba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55" y="1297776"/>
            <a:ext cx="375920" cy="31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39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006124"/>
              </p:ext>
            </p:extLst>
          </p:nvPr>
        </p:nvGraphicFramePr>
        <p:xfrm>
          <a:off x="426718" y="1417320"/>
          <a:ext cx="8432800" cy="3210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43280">
                  <a:extLst>
                    <a:ext uri="{9D8B030D-6E8A-4147-A177-3AD203B41FA5}">
                      <a16:colId xmlns:a16="http://schemas.microsoft.com/office/drawing/2014/main" val="1165780249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699661792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820983272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170700712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545155528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899520962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1708352576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9124721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4107431304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403751353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チーム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/>
                        <a:t>11/25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/>
                        <a:t>(</a:t>
                      </a:r>
                      <a:r>
                        <a:rPr kumimoji="1" lang="ja-JP" altLang="en-US" dirty="0" smtClean="0"/>
                        <a:t>火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 smtClean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/>
                        <a:t>12/25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/>
                        <a:t>(</a:t>
                      </a:r>
                      <a:r>
                        <a:rPr kumimoji="1" lang="ja-JP" altLang="en-US" dirty="0" smtClean="0"/>
                        <a:t>木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 smtClean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 smtClean="0"/>
                        <a:t>12/26 (</a:t>
                      </a:r>
                      <a:r>
                        <a:rPr lang="ja-JP" altLang="en-US" dirty="0" smtClean="0"/>
                        <a:t>金</a:t>
                      </a:r>
                      <a:r>
                        <a:rPr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 smtClean="0"/>
                        <a:t>12/27 (</a:t>
                      </a:r>
                      <a:r>
                        <a:rPr lang="ja-JP" altLang="en-US" dirty="0" smtClean="0"/>
                        <a:t>土</a:t>
                      </a:r>
                      <a:r>
                        <a:rPr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12/28 (</a:t>
                      </a:r>
                      <a:r>
                        <a:rPr kumimoji="1" lang="ja-JP" altLang="en-US" dirty="0" smtClean="0"/>
                        <a:t>日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12/29 (</a:t>
                      </a:r>
                      <a:r>
                        <a:rPr kumimoji="1" lang="ja-JP" altLang="en-US" dirty="0" smtClean="0"/>
                        <a:t>月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12/30 (</a:t>
                      </a:r>
                      <a:r>
                        <a:rPr kumimoji="1" lang="ja-JP" altLang="en-US" dirty="0" smtClean="0"/>
                        <a:t>火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12/31 (</a:t>
                      </a:r>
                      <a:r>
                        <a:rPr kumimoji="1" lang="ja-JP" altLang="en-US" dirty="0" smtClean="0"/>
                        <a:t>水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4442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kumimoji="1" lang="ja-JP" altLang="en-US" dirty="0" smtClean="0"/>
                        <a:t>開発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kumimoji="1" lang="en-US" altLang="ja-JP" dirty="0" smtClean="0"/>
                        <a:t>(</a:t>
                      </a:r>
                      <a:r>
                        <a:rPr kumimoji="1" lang="ja-JP" altLang="en-US" dirty="0" smtClean="0"/>
                        <a:t>休日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kumimoji="1" lang="en-US" altLang="ja-JP" dirty="0" smtClean="0"/>
                        <a:t>(</a:t>
                      </a:r>
                      <a:r>
                        <a:rPr kumimoji="1" lang="ja-JP" altLang="en-US" dirty="0" smtClean="0"/>
                        <a:t>休日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244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kumimoji="1" lang="en-US" altLang="ja-JP" dirty="0" smtClean="0"/>
                        <a:t>23</a:t>
                      </a:r>
                      <a:r>
                        <a:rPr kumimoji="1" lang="ja-JP" altLang="en-US" dirty="0" smtClean="0"/>
                        <a:t>日間で完了必須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指摘対応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リリース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562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kumimoji="1" lang="ja-JP" altLang="en-US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業務</a:t>
                      </a:r>
                      <a:endParaRPr kumimoji="1" lang="ja-JP" alt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kumimoji="1" lang="en-US" altLang="ja-JP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kumimoji="1" lang="ja-JP" altLang="en-US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休日</a:t>
                      </a:r>
                      <a:r>
                        <a:rPr kumimoji="1" lang="en-US" altLang="ja-JP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)</a:t>
                      </a:r>
                      <a:endParaRPr kumimoji="1" lang="ja-JP" alt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kumimoji="1" lang="en-US" altLang="ja-JP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kumimoji="1" lang="ja-JP" altLang="en-US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休日</a:t>
                      </a:r>
                      <a:r>
                        <a:rPr kumimoji="1" lang="en-US" altLang="ja-JP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)</a:t>
                      </a:r>
                      <a:endParaRPr kumimoji="1" lang="ja-JP" alt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0870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証跡確認</a:t>
                      </a:r>
                      <a:endParaRPr kumimoji="1" lang="ja-JP" alt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証跡確認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356771"/>
                  </a:ext>
                </a:extLst>
              </a:tr>
            </a:tbl>
          </a:graphicData>
        </a:graphic>
      </p:graphicFrame>
      <p:sp>
        <p:nvSpPr>
          <p:cNvPr id="5" name="右箭头 4"/>
          <p:cNvSpPr/>
          <p:nvPr/>
        </p:nvSpPr>
        <p:spPr>
          <a:xfrm>
            <a:off x="1564640" y="2352040"/>
            <a:ext cx="2052320" cy="264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右箭头 5"/>
          <p:cNvSpPr/>
          <p:nvPr/>
        </p:nvSpPr>
        <p:spPr>
          <a:xfrm>
            <a:off x="7244080" y="2372360"/>
            <a:ext cx="751840" cy="264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右箭头 6"/>
          <p:cNvSpPr/>
          <p:nvPr/>
        </p:nvSpPr>
        <p:spPr>
          <a:xfrm>
            <a:off x="8087358" y="2382520"/>
            <a:ext cx="751840" cy="264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箭头 7"/>
          <p:cNvSpPr/>
          <p:nvPr/>
        </p:nvSpPr>
        <p:spPr>
          <a:xfrm>
            <a:off x="3891278" y="3378200"/>
            <a:ext cx="751840" cy="264160"/>
          </a:xfrm>
          <a:prstGeom prst="rightArrow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右箭头 8"/>
          <p:cNvSpPr/>
          <p:nvPr/>
        </p:nvSpPr>
        <p:spPr>
          <a:xfrm>
            <a:off x="6375398" y="3444240"/>
            <a:ext cx="1620522" cy="264160"/>
          </a:xfrm>
          <a:prstGeom prst="rightArrow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06878" y="741680"/>
            <a:ext cx="587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Chubb</a:t>
            </a:r>
            <a:r>
              <a:rPr kumimoji="1" lang="ja-JP" altLang="en-US" sz="2800" dirty="0" smtClean="0"/>
              <a:t>料率改定リリーススケジュール</a:t>
            </a:r>
            <a:endParaRPr kumimoji="1" lang="ja-JP" altLang="en-US" sz="28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1971040" y="1879600"/>
            <a:ext cx="10464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35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166</Words>
  <Application>Microsoft Office PowerPoint</Application>
  <PresentationFormat>全屏显示(4:3)</PresentationFormat>
  <Paragraphs>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ＭＳ Ｐゴシック</vt:lpstr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kaikyou</cp:lastModifiedBy>
  <cp:revision>21</cp:revision>
  <dcterms:created xsi:type="dcterms:W3CDTF">2013-01-27T09:14:16Z</dcterms:created>
  <dcterms:modified xsi:type="dcterms:W3CDTF">2025-11-16T11:46:46Z</dcterms:modified>
  <cp:category/>
</cp:coreProperties>
</file>